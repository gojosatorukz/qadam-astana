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c2c2dd7a14607" /><Relationship Type="http://schemas.openxmlformats.org/officeDocument/2006/relationships/extended-properties" Target="/docProps/app.xml" Id="R6d94fbe77818457f" /><Relationship Type="http://schemas.openxmlformats.org/officeDocument/2006/relationships/officeDocument" Target="/ppt/presentation.xml" Id="R865b992c6bec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397ecdfc742d5"/>
  </p:sldMasterIdLst>
  <p:notesMasterIdLst>
    <p:notesMasterId xmlns:r="http://schemas.openxmlformats.org/officeDocument/2006/relationships" r:id="Rb8226867ac12474c"/>
  </p:notesMasterIdLst>
  <p:sldIdLst>
    <p:sldId xmlns:r="http://schemas.openxmlformats.org/officeDocument/2006/relationships" id="256" r:id="Rf81122f160d84a06"/>
    <p:sldId xmlns:r="http://schemas.openxmlformats.org/officeDocument/2006/relationships" id="257" r:id="Rf1edb0c4ebf342c0"/>
    <p:sldId xmlns:r="http://schemas.openxmlformats.org/officeDocument/2006/relationships" id="258" r:id="R436c652af78d4476"/>
    <p:sldId xmlns:r="http://schemas.openxmlformats.org/officeDocument/2006/relationships" id="259" r:id="Re5bd635dd46945fd"/>
    <p:sldId xmlns:r="http://schemas.openxmlformats.org/officeDocument/2006/relationships" id="260" r:id="R79c1bcc34826415f"/>
    <p:sldId xmlns:r="http://schemas.openxmlformats.org/officeDocument/2006/relationships" id="261" r:id="Ra137767f99c24486"/>
    <p:sldId xmlns:r="http://schemas.openxmlformats.org/officeDocument/2006/relationships" id="262" r:id="R13da5504168340cd"/>
    <p:sldId xmlns:r="http://schemas.openxmlformats.org/officeDocument/2006/relationships" id="263" r:id="R14a6c127116f42b6"/>
    <p:sldId xmlns:r="http://schemas.openxmlformats.org/officeDocument/2006/relationships" id="264" r:id="Rc1cea250946a41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35787668194b94" /><Relationship Type="http://schemas.openxmlformats.org/officeDocument/2006/relationships/slideMaster" Target="/ppt/slideMasters/slideMaster1.xml" Id="R370397ecdfc742d5" /><Relationship Type="http://schemas.openxmlformats.org/officeDocument/2006/relationships/notesMaster" Target="/ppt/notesMasters/notesMaster1.xml" Id="Rb8226867ac12474c" /><Relationship Type="http://schemas.openxmlformats.org/officeDocument/2006/relationships/presProps" Target="/ppt/presProps.xml" Id="Ra0e22165cd81487c" /><Relationship Type="http://schemas.openxmlformats.org/officeDocument/2006/relationships/tableStyles" Target="/ppt/tableStyles.xml" Id="R08bb4220b8a5468e" /><Relationship Type="http://schemas.openxmlformats.org/officeDocument/2006/relationships/slide" Target="/ppt/slides/slide1.xml" Id="Rf81122f160d84a06" /><Relationship Type="http://schemas.openxmlformats.org/officeDocument/2006/relationships/slide" Target="/ppt/slides/slide2.xml" Id="Rf1edb0c4ebf342c0" /><Relationship Type="http://schemas.openxmlformats.org/officeDocument/2006/relationships/slide" Target="/ppt/slides/slide3.xml" Id="R436c652af78d4476" /><Relationship Type="http://schemas.openxmlformats.org/officeDocument/2006/relationships/slide" Target="/ppt/slides/slide4.xml" Id="Re5bd635dd46945fd" /><Relationship Type="http://schemas.openxmlformats.org/officeDocument/2006/relationships/slide" Target="/ppt/slides/slide5.xml" Id="R79c1bcc34826415f" /><Relationship Type="http://schemas.openxmlformats.org/officeDocument/2006/relationships/slide" Target="/ppt/slides/slide6.xml" Id="Ra137767f99c24486" /><Relationship Type="http://schemas.openxmlformats.org/officeDocument/2006/relationships/slide" Target="/ppt/slides/slide7.xml" Id="R13da5504168340cd" /><Relationship Type="http://schemas.openxmlformats.org/officeDocument/2006/relationships/slide" Target="/ppt/slides/slide8.xml" Id="R14a6c127116f42b6" /><Relationship Type="http://schemas.openxmlformats.org/officeDocument/2006/relationships/slide" Target="/ppt/slides/slide9.xml" Id="Rc1cea250946a41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05b924335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adam final v18">
      <a:dk1>
        <a:srgbClr val="183D42"/>
      </a:dk1>
      <a:lt1>
        <a:srgbClr val="F7F3EB"/>
      </a:lt1>
      <a:dk2>
        <a:srgbClr val="075A63"/>
      </a:dk2>
      <a:lt2>
        <a:srgbClr val="DCE9E6"/>
      </a:lt2>
      <a:accent1>
        <a:srgbClr val="075A63"/>
      </a:accent1>
      <a:accent2>
        <a:srgbClr val="CA5B37"/>
      </a:accent2>
      <a:accent3>
        <a:srgbClr val="DCE9E6"/>
      </a:accent3>
      <a:accent4>
        <a:srgbClr val="586C6D"/>
      </a:accent4>
      <a:accent5>
        <a:srgbClr val="183D42"/>
      </a:accent5>
      <a:accent6>
        <a:srgbClr val="F7F3EB"/>
      </a:accent6>
      <a:hlink>
        <a:srgbClr val="F7F3EB"/>
      </a:hlink>
      <a:folHlink>
        <a:srgbClr val="DCE9E6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dam final v18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a35c139e3491d" /><Relationship Type="http://schemas.openxmlformats.org/officeDocument/2006/relationships/notesMaster" Target="/ppt/notesMasters/notesMaster1.xml" Id="R0bbbd20e73284d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f15c223964ba3" /><Relationship Type="http://schemas.openxmlformats.org/officeDocument/2006/relationships/notesMaster" Target="/ppt/notesMasters/notesMaster1.xml" Id="R2185d3b9ac4a46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9ee2fd620544c3" /><Relationship Type="http://schemas.openxmlformats.org/officeDocument/2006/relationships/notesMaster" Target="/ppt/notesMasters/notesMaster1.xml" Id="Rb436f2e38f3e4d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7f0d1f24ba4483" /><Relationship Type="http://schemas.openxmlformats.org/officeDocument/2006/relationships/notesMaster" Target="/ppt/notesMasters/notesMaster1.xml" Id="R542e854ae28b40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b1b796094e4603" /><Relationship Type="http://schemas.openxmlformats.org/officeDocument/2006/relationships/notesMaster" Target="/ppt/notesMasters/notesMaster1.xml" Id="R8ef78642b8ba4b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9081700e58473e" /><Relationship Type="http://schemas.openxmlformats.org/officeDocument/2006/relationships/notesMaster" Target="/ppt/notesMasters/notesMaster1.xml" Id="R6706b788cd6a40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b2aef08c948c6" /><Relationship Type="http://schemas.openxmlformats.org/officeDocument/2006/relationships/notesMaster" Target="/ppt/notesMasters/notesMaster1.xml" Id="R807557cfe70c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9b52f478764e2a" /><Relationship Type="http://schemas.openxmlformats.org/officeDocument/2006/relationships/notesMaster" Target="/ppt/notesMasters/notesMaster1.xml" Id="R36fc8c7d256f45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4b542e07ad4f1e" /><Relationship Type="http://schemas.openxmlformats.org/officeDocument/2006/relationships/notesMaster" Target="/ppt/notesMasters/notesMaster1.xml" Id="Rd278b8fe0f6949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Представьте: вы вышли у Байтерека. Через полтора часа нужно быть у Национального музея. И вы ещё не обедали. Можно сразу идти к месту встречи и ждать там. Можно открыть карту, выбрать кафе, отдельно проверить путь, прикинуть очередь и надеяться, что успеете. Я хотел ответить на другой вопрос: что хорошего я успею сделать по дороге? Так появился Qadam. Название означает шаг. Мы помогаем превратить промежуток между делами в маленькое городское открытие.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https://qadam-astana.pages.dev/</a:t>
            </a:r>
          </a:p>
          <a:p xmlns:a="http://schemas.openxmlformats.org/drawingml/2006/main">
            <a:r>
              <a:t>Сценарий демонстрации, не исследовательская статистика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пишу: «Хочу пообедать по дороге». Указываю, откуда выхожу, где встречаемся и сколько у меня времени. Конечная точка необязательна: можно просто погулять и вернуться к старту. Нам не нужно заставлять человека сначала изучать фильтры. Он уже знает, чего хочет, но пока не знает подходящего места. Qadam разбирает желание и предлагает выполнимые варианты. Если запрос действительно неоднозначный, уточняет его, сохраняя уже выбранные условия. Отдельно остаются кнопки интересов, с которыми маршрут можно построить вообще без обращения к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https://qadam-astana.pages.dev/</a:t>
            </a:r>
          </a:p>
          <a:p xmlns:a="http://schemas.openxmlformats.org/drawingml/2006/main">
            <a:r>
              <a:t>qadam/README.md: пользовательские сценарии и intent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Вот реальный результат опубликованной версии. Для этого желания приложение построило четыре маршрута с едой по пути к музею. В одном из них 52 минуты занимает ходьба, 30 минут отведено на обед и 8 минут оставлено в запасе. Вместе ровно 90. Мы не показываем красивую линию, которая на самом деле не помещается в расписание. Каждый вариант проходит расчёт на пешеходном графе. Можно сравнить места, открыть детали и источники, выбрать другой маршрут. Если ни один не подошёл, запросить следующую порцию вариантов. При этом точка назначения, ограничения и общий бюджет времени остаются условиями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research/ai-v18-evidence/mobile-final-food-to-B.png</a:t>
            </a:r>
          </a:p>
          <a:p xmlns:a="http://schemas.openxmlformats.org/drawingml/2006/main">
            <a:r>
              <a:t>research/ai-v18-evidence/mobile-final-food-to-B.txt</a:t>
            </a:r>
          </a:p>
          <a:p xmlns:a="http://schemas.openxmlformats.org/drawingml/2006/main">
            <a:r>
              <a:t>qadam/lib/build-plan.ts</a:t>
            </a:r>
          </a:p>
          <a:p xmlns:a="http://schemas.openxmlformats.org/drawingml/2006/main">
            <a:r>
              <a:t>https://github.com/gojosatorukz/qadam-astana/blob/main/TEST_SCENARIOS.md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Теперь представим: встречу перенесли раньше. Я сокращаю время с 90 до 45 минут, сохраняя те же А и Б. На карте было 135 доступных мест. Стало ноль. Это реальные результаты текущего демонстрационного сценария, а не постоянная характеристика города. Приложение честно показывает, что окно уже не позволяет зайти в место по пути. Карта помогает увидеть, что вообще выполнимо, ещё до выбора конкретного заведения. Её категории и временной фильтр задаются отдельно от свободного текста. С телефона можно раскрыть карту на весь экран, выбрать точку и открыть точку в 2ГИС. Для прогулки сейчас есть GPS-навигация с пересчётом оставшегося пути. Её следующий этап проверки — настоящая прогулка на улице.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submission/media/v18/raw/07-opportunities.png</a:t>
            </a:r>
          </a:p>
          <a:p xmlns:a="http://schemas.openxmlformats.org/drawingml/2006/main">
            <a:r>
              <a:t>submission/media/v18/raw/08-map-45.png</a:t>
            </a:r>
          </a:p>
          <a:p xmlns:a="http://schemas.openxmlformats.org/drawingml/2006/main">
            <a:r>
              <a:t>qadam/README.md: карта возможностей и GPS</a:t>
            </a:r>
          </a:p>
          <a:p xmlns:a="http://schemas.openxmlformats.org/drawingml/2006/main">
            <a:r>
              <a:t>https://github.com/gojosatorukz/qadam-astana/blob/main/TEST_SCENARIOS.md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интерфейсом три решения. Сначала модель переводит желание в строгие категории и запреты. Затем retrieval выбирает записи собственного корпуса мест, собранного автоматически из OpenStreetMap через Overpass. Код считает путь, остановки и запас. Модель не задаёт произвольные координаты и минуты. В основном RAG-пути найденные POI передаются для обогащения объяснения через Gemini. В показанном резервном режиме AI используется для понимания запроса, а объяснения составляются локально из найденных данных. Векторной базы нет. Неизвестные часы не становятся подтверждёнными. Если Gemini задерживается, через полторы секунды подключается Google Gemma в Cloudflare. Берём первый корректный ответ по общей схеме. Не более двух вызовов и один общий дедлайн. Бесплатные квоты всё равно ограничены.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qadam/README.md: RAG, corpus, privacy</a:t>
            </a:r>
          </a:p>
          <a:p xmlns:a="http://schemas.openxmlformats.org/drawingml/2006/main">
            <a:r>
              <a:t>deploy/cloudflare/src/resilient-intent.ts</a:t>
            </a:r>
          </a:p>
          <a:p xmlns:a="http://schemas.openxmlformats.org/drawingml/2006/main">
            <a:r>
              <a:t>deploy/cloudflare/src/server.ts</a:t>
            </a:r>
          </a:p>
          <a:p xmlns:a="http://schemas.openxmlformats.org/drawingml/2006/main">
            <a:r>
              <a:t>https://developers.cloudflare.com/workers-ai/models/gemma-4-26b-a4b-it/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Проверять только приятные примеры было бы легко. Поэтому в публичной версии мы проверили отрицания, запросы на русском, казахском и английском, сочетания «и» и «или», смену желания и неизвестные свойства. В финальной серии тридцать из тридцати запросов прошли проверку смысла и структуры ответа. Десять формулировок были новыми для этой серии. Медиана ответа около двух с половиной секунд. Все тридцать ответов пришли от резерва. Это результат конечной тестовой выборки, а не обещание стопроцентной точности. Дополнительно проходят 505 автоматических проверок. Нам ещё нужно проверить пути и навигацию на улице, а полезность продукта на большем числе людей.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research/ai-v18-evidence/qa-summary.json</a:t>
            </a:r>
          </a:p>
          <a:p xmlns:a="http://schemas.openxmlformats.org/drawingml/2006/main">
            <a:r>
              <a:t>research/ai-v18-evidence/production-batch1.json</a:t>
            </a:r>
          </a:p>
          <a:p xmlns:a="http://schemas.openxmlformats.org/drawingml/2006/main">
            <a:r>
              <a:t>research/ai-v18-evidence/production-batch2.json</a:t>
            </a:r>
          </a:p>
          <a:p xmlns:a="http://schemas.openxmlformats.org/drawingml/2006/main">
            <a:r>
              <a:t>research/ai-v18-evidence/production-batch3.json</a:t>
            </a:r>
          </a:p>
          <a:p xmlns:a="http://schemas.openxmlformats.org/drawingml/2006/main">
            <a:r>
              <a:t>https://github.com/gojosatorukz/qadam-astana/blob/main/AI_VALIDATION.json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Повод вернуться в Qadam появляется после самой прогулки. Личный паспорт собирает посещённые места, историю и уровни. Поиск маршрута и просмотр без GPS не выдают награду за несуществующую прогулку. Личные оценки помогают мягко менять порядок сопоставимых вариантов, но не отменяют время и обязательные условия. Это не публичный рейтинг заведений и не обучение общей модели на чужих перемещениях. Паспорт остаётся в браузере пользователя, персонализацию можно отключить, данные удалить. Мы хотим поддержать любопытство к своему городу, не создавать ещё одну таблицу соревнования за баллы.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qadam/README.md: passport, preference score ±6, privacy</a:t>
            </a:r>
          </a:p>
          <a:p xmlns:a="http://schemas.openxmlformats.org/drawingml/2006/main">
            <a:r>
              <a:t>deploy/cloudflare/README.md: local ledger, GPS-qualified completion</a:t>
            </a:r>
          </a:p>
          <a:p xmlns:a="http://schemas.openxmlformats.org/drawingml/2006/main">
            <a:r>
              <a:t>https://github.com/gojosatorukz/qadam-astana/blob/main/TEST_SCENARIOS.md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потенциальный партнёр — кампус или гостевой центр. Их посетителям нужны короткие прогулки с понятным временем возвращения. Возможная бизнес-модель — подготовка и поддержка проверенного локального корпуса для такого партнёра. Пока это гипотеза, договора и выручки нет. Следующий эксперимент — проверить реальные пути, время прибытия, новые посещённые места и желание выйти ещё раз. Городской сбор данных и отправка отчётов в акимат сейчас не включены. Любые будущие агрегированные отчёты требуют отдельного добровольного согласия. Начать можно с одного измеримого пилота.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qadam/docs/CITY_PILOT.md</a:t>
            </a:r>
          </a:p>
          <a:p xmlns:a="http://schemas.openxmlformats.org/drawingml/2006/main">
            <a:r>
              <a:t>qadam/README.md: future city reporting proposal, no collection enabled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Вернёмся к человеку у Байтерека. У него всё те же полтора часа и та же встреча. Теперь у него есть четыре проверенных по времени варианта и понятный выбор, как провести этот промежуток. В этом наша идея для Smart City: сделать существующий город доступнее в обычный день, когда свободного времени немного. Qadam уже открыт по этой ссылке. Можно прямо сейчас написать своё желание и проверить маршрут. Я Бекзат, команда Qadam. Спасибо.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https://qadam-astana.pages.dev/</a:t>
            </a:r>
          </a:p>
          <a:p xmlns:a="http://schemas.openxmlformats.org/drawingml/2006/main">
            <a:r>
              <a:t>https://github.com/gojosatorukz/qadam-astana</a:t>
            </a:r>
          </a:p>
          <a:p xmlns:a="http://schemas.openxmlformats.org/drawingml/2006/main">
            <a:r>
              <a:t>https://youtu.be/GgR8BL8obfI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2ad0f6bb34a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8b8e84d3b44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90fb097a247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5daf2659446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db2b164e748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f003c780f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C3B2BD-5979-4B04-A95F-486E0E0153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4DB0FF-3BBE-4EBE-BFBE-11A01BC9CD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3E273E-9D7A-41E9-A76F-631290A37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FF05FF-132D-4504-825A-FD307D04A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09C4DD-0655-44B4-B5AA-7435ECC020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B2DB2C-2548-4855-9528-7C784A29AC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87E546-61E9-419E-BC0A-E9FE2752AB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1ED466-8B90-4D30-8D75-F3759C76C9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77C03-9A5C-4B7F-8C00-14651E54D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40FC2D-ADDE-4704-B98B-FDC8F0DDFD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e02f9c7aec4c89" /><Relationship Type="http://schemas.openxmlformats.org/officeDocument/2006/relationships/slideLayout" Target="/ppt/slideLayouts/slideLayout1.xml" Id="R5054d58bfcae4534" /><Relationship Type="http://schemas.openxmlformats.org/officeDocument/2006/relationships/slideLayout" Target="/ppt/slideLayouts/slideLayout2.xml" Id="Rcb1c989296914194" /><Relationship Type="http://schemas.openxmlformats.org/officeDocument/2006/relationships/slideLayout" Target="/ppt/slideLayouts/slideLayout3.xml" Id="R6aacf59c87b74fe0" /><Relationship Type="http://schemas.openxmlformats.org/officeDocument/2006/relationships/slideLayout" Target="/ppt/slideLayouts/slideLayout4.xml" Id="R02314f18ffc84a5d" /><Relationship Type="http://schemas.openxmlformats.org/officeDocument/2006/relationships/slideLayout" Target="/ppt/slideLayouts/slideLayout5.xml" Id="Rd99211d30ce74055" /><Relationship Type="http://schemas.openxmlformats.org/officeDocument/2006/relationships/slideLayout" Target="/ppt/slideLayouts/slideLayout6.xml" Id="R4423d012be0b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4d58bfcae4534"/>
    <p:sldLayoutId xmlns:r="http://schemas.openxmlformats.org/officeDocument/2006/relationships" id="2147483650" r:id="Rcb1c989296914194"/>
    <p:sldLayoutId xmlns:r="http://schemas.openxmlformats.org/officeDocument/2006/relationships" id="2147483651" r:id="R6aacf59c87b74fe0"/>
    <p:sldLayoutId xmlns:r="http://schemas.openxmlformats.org/officeDocument/2006/relationships" id="2147483652" r:id="R02314f18ffc84a5d"/>
    <p:sldLayoutId xmlns:r="http://schemas.openxmlformats.org/officeDocument/2006/relationships" id="2147483653" r:id="Rd99211d30ce74055"/>
    <p:sldLayoutId xmlns:r="http://schemas.openxmlformats.org/officeDocument/2006/relationships" id="2147483654" r:id="R4423d012be0b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adam final v18">
      <a:dk1>
        <a:srgbClr val="183D42"/>
      </a:dk1>
      <a:lt1>
        <a:srgbClr val="F7F3EB"/>
      </a:lt1>
      <a:dk2>
        <a:srgbClr val="075A63"/>
      </a:dk2>
      <a:lt2>
        <a:srgbClr val="DCE9E6"/>
      </a:lt2>
      <a:accent1>
        <a:srgbClr val="075A63"/>
      </a:accent1>
      <a:accent2>
        <a:srgbClr val="CA5B37"/>
      </a:accent2>
      <a:accent3>
        <a:srgbClr val="DCE9E6"/>
      </a:accent3>
      <a:accent4>
        <a:srgbClr val="586C6D"/>
      </a:accent4>
      <a:accent5>
        <a:srgbClr val="183D42"/>
      </a:accent5>
      <a:accent6>
        <a:srgbClr val="F7F3EB"/>
      </a:accent6>
      <a:hlink>
        <a:srgbClr val="F7F3EB"/>
      </a:hlink>
      <a:folHlink>
        <a:srgbClr val="DCE9E6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dam final v18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82af9be1b4b61" /><Relationship Type="http://schemas.openxmlformats.org/officeDocument/2006/relationships/notesSlide" Target="/ppt/notesSlides/notesSlide1.xml" Id="R3b4f4819552e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1357c78914231" /><Relationship Type="http://schemas.openxmlformats.org/officeDocument/2006/relationships/image" Target="/ppt/media/image.jpeg" Id="Rd47cbeed0df048b7" /><Relationship Type="http://schemas.openxmlformats.org/officeDocument/2006/relationships/notesSlide" Target="/ppt/notesSlides/notesSlide2.xml" Id="Rd21ed5d0792e4a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18d107ca64128" /><Relationship Type="http://schemas.openxmlformats.org/officeDocument/2006/relationships/image" Target="/ppt/media/image2.jpeg" Id="Rf1ef2a3193f34376" /><Relationship Type="http://schemas.openxmlformats.org/officeDocument/2006/relationships/notesSlide" Target="/ppt/notesSlides/notesSlide3.xml" Id="R08b4c712558d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b1522372942d4" /><Relationship Type="http://schemas.openxmlformats.org/officeDocument/2006/relationships/image" Target="/ppt/media/image3.jpeg" Id="R231cd97569cf4816" /><Relationship Type="http://schemas.openxmlformats.org/officeDocument/2006/relationships/image" Target="/ppt/media/image4.jpeg" Id="R786bc8c2e3f443d8" /><Relationship Type="http://schemas.openxmlformats.org/officeDocument/2006/relationships/notesSlide" Target="/ppt/notesSlides/notesSlide4.xml" Id="Rd8eceaaafa0641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c62df4f954366" /><Relationship Type="http://schemas.openxmlformats.org/officeDocument/2006/relationships/notesSlide" Target="/ppt/notesSlides/notesSlide5.xml" Id="Ra84796185fd44c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e58bda4fb4a51" /><Relationship Type="http://schemas.openxmlformats.org/officeDocument/2006/relationships/notesSlide" Target="/ppt/notesSlides/notesSlide6.xml" Id="R77517794882b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74d3dd00744e8" /><Relationship Type="http://schemas.openxmlformats.org/officeDocument/2006/relationships/image" Target="/ppt/media/image5.jpeg" Id="Rd5ef0b0c0b6249b3" /><Relationship Type="http://schemas.openxmlformats.org/officeDocument/2006/relationships/notesSlide" Target="/ppt/notesSlides/notesSlide7.xml" Id="R5ce36b7c4eb043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06e055c82418d" /><Relationship Type="http://schemas.openxmlformats.org/officeDocument/2006/relationships/notesSlide" Target="/ppt/notesSlides/notesSlide8.xml" Id="R3c7d10248b3f47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5049ca7ed4ec3" /><Relationship Type="http://schemas.openxmlformats.org/officeDocument/2006/relationships/hyperlink" Target="https://qadam-astana.pages.dev/" TargetMode="External" Id="R7e833563de224811" /><Relationship Type="http://schemas.openxmlformats.org/officeDocument/2006/relationships/hyperlink" Target="https://github.com/gojosatorukz/qadam-astana" TargetMode="External" Id="Rc209b1d8ca124c91" /><Relationship Type="http://schemas.openxmlformats.org/officeDocument/2006/relationships/hyperlink" Target="https://youtu.be/GgR8BL8obfI" TargetMode="External" Id="R54cc972bd0014729" /><Relationship Type="http://schemas.openxmlformats.org/officeDocument/2006/relationships/image" Target="/ppt/media/image.png" Id="R9bf0f9d936304d7f" /><Relationship Type="http://schemas.openxmlformats.org/officeDocument/2006/relationships/notesSlide" Target="/ppt/notesSlides/notesSlide9.xml" Id="R5a0f4801d90341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AA068-0F56-4855-8F32-DE31C7B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075A63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75A63"/>
                </a:solidFill>
                <a:latin typeface="Arial"/>
                <a:ea typeface="Arial"/>
                <a:cs typeface="Arial"/>
              </a:rPr>
              <a:t>qadam.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EF9F5-B848-4818-8897-2BC34B16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58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До встречи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203A7-809A-4E32-BA48-6A8712A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11049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1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11100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90 минут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E9D05-3657-457F-B293-7807892F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75A63"/>
                </a:solidFill>
                <a:latin typeface="Arial"/>
                <a:ea typeface="Arial"/>
                <a:cs typeface="Arial"/>
              </a:rPr>
              <a:t>Хочу пообедать по дороге и успеть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B7FF2-FBAC-451D-A5DF-E347CBB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Rashiduly Bekzat · Build with AI 2026</a:t>
            </a:r>
          </a:p>
        </p:txBody>
      </p:sp>
    </p:spTree>
    <p:extLst>
      <p:ext uri="{BB962C8B-B14F-4D97-AF65-F5344CB8AC3E}">
        <p14:creationId xmlns:p14="http://schemas.microsoft.com/office/powerpoint/2010/main" val="1133753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3E64E-E098-4BF9-BC76-D479C9E0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Желание своими словами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B6ADC-7012-4049-99E1-8474DA30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7239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42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«Хочу пообедать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2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42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по дороге»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35A0C-FE6B-4C02-859C-17CFF1B7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75A63"/>
                </a:solidFill>
                <a:latin typeface="Arial"/>
                <a:ea typeface="Arial"/>
                <a:cs typeface="Arial"/>
              </a:rPr>
              <a:t>А  Байтерек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1D3B2-D8A6-4F3E-896F-3361E9C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862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A5B37"/>
                </a:solidFill>
                <a:latin typeface="Arial"/>
                <a:ea typeface="Arial"/>
                <a:cs typeface="Arial"/>
              </a:rPr>
              <a:t>Б  У Национального музея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26E67-1CEF-498B-8F14-842A288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90 минут на всё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67EA4-F594-4C60-B22E-D8FCD61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15075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Без точки Б можно погулять и вернуться к старту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0698D-A908-4612-A1ED-FB846BABC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cbeed0df048b7"/>
          <a:stretch xmlns:a="http://schemas.openxmlformats.org/drawingml/2006/main"/>
        </p:blipFill>
        <p:spPr>
          <a:xfrm xmlns:a="http://schemas.openxmlformats.org/drawingml/2006/main">
            <a:off x="8679600" y="1562100"/>
            <a:ext cx="226230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98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1586A-0B90-4294-95D1-22C4E979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Четыре маршрута. Одно окно времени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71F5B-0CA4-4736-8237-D9508EF66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f2a3193f34376"/>
          <a:stretch xmlns:a="http://schemas.openxmlformats.org/drawingml/2006/main"/>
        </p:blipFill>
        <p:spPr>
          <a:xfrm xmlns:a="http://schemas.openxmlformats.org/drawingml/2006/main">
            <a:off x="779402" y="1647825"/>
            <a:ext cx="2165470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28CF4-059F-46F7-9230-17D13534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47850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73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52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724B-893B-4C84-B875-D10F231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33600"/>
            <a:ext cx="49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86D0A-8CE6-4CF6-B709-C1BBBAD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38475"/>
            <a:ext cx="2143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ходьба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A42D9-EAC3-47FA-8492-F287A8CE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3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7350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5424D-66CC-4651-B8AC-66D51E5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49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7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AE935-9946-4D7E-BC69-E6013963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143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обед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C9CB4-BEDF-4DC6-B36F-41AFD01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47850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3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73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C7C17-9969-4E7D-A117-132C6D9B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38475"/>
            <a:ext cx="2143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запас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2977C-F66F-4300-B4D5-242C017A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57675"/>
            <a:ext cx="7381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62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5625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90 минут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472BD-3C5C-4E6A-B31B-4732C4E6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91150"/>
            <a:ext cx="7334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75A63"/>
                </a:solidFill>
                <a:latin typeface="Arial"/>
                <a:ea typeface="Arial"/>
                <a:cs typeface="Arial"/>
              </a:rPr>
              <a:t>Сравни места и выбери подходящий путь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BAAF0-6875-4E7C-ABC4-DC9916A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4960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Реальный расчёт опубликованной версии · время в минутах</a:t>
            </a:r>
          </a:p>
        </p:txBody>
      </p:sp>
    </p:spTree>
    <p:extLst>
      <p:ext uri="{BB962C8B-B14F-4D97-AF65-F5344CB8AC3E}">
        <p14:creationId xmlns:p14="http://schemas.microsoft.com/office/powerpoint/2010/main" val="1096059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0FC1F-5C0A-4ACB-8AA0-BAC82851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Карта возможностей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7F9CE-289B-408A-97A7-E02363FEB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cd97569cf4816"/>
          <a:stretch xmlns:a="http://schemas.openxmlformats.org/drawingml/2006/main"/>
        </p:blipFill>
        <p:spPr>
          <a:xfrm xmlns:a="http://schemas.openxmlformats.org/drawingml/2006/main">
            <a:off x="677550" y="1600200"/>
            <a:ext cx="2178674" cy="4714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3BFA9-916A-488F-BDCE-B143604B3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bc8c2e3f443d8"/>
          <a:stretch xmlns:a="http://schemas.openxmlformats.org/drawingml/2006/main"/>
        </p:blipFill>
        <p:spPr>
          <a:xfrm xmlns:a="http://schemas.openxmlformats.org/drawingml/2006/main">
            <a:off x="3373125" y="1600200"/>
            <a:ext cx="2178674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A0B25-4A77-435E-82CD-F0EB345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75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90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24132-D87F-4A06-BFE9-94E9CC8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670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75A63"/>
                </a:solidFill>
                <a:latin typeface="Arial"/>
                <a:ea typeface="Arial"/>
                <a:cs typeface="Arial"/>
              </a:rPr>
              <a:t>135 мест по пути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05981-4E2B-4EA8-AD58-619D6A4E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75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45 минут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F05FF-2042-42E6-8FA9-5129A9F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9582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A5B37"/>
                </a:solidFill>
                <a:latin typeface="Arial"/>
                <a:ea typeface="Arial"/>
                <a:cs typeface="Arial"/>
              </a:rPr>
              <a:t>0 выполнимых посещений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B429A-950A-42F7-9D4C-356022C1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857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Те же А/Б. Результат текущего демо.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74602-F22C-40EB-BEC7-4E31F487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486525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Один визит с запасом · отдельные категории карты · © OpenStreetMap contributors</a:t>
            </a:r>
          </a:p>
        </p:txBody>
      </p:sp>
    </p:spTree>
    <p:extLst>
      <p:ext uri="{BB962C8B-B14F-4D97-AF65-F5344CB8AC3E}">
        <p14:creationId xmlns:p14="http://schemas.microsoft.com/office/powerpoint/2010/main" val="1086708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81DCD-E1A8-4FD5-A973-3C074C5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Как проверяется рекомендация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86C20-9E26-4A8C-BD42-E90AF29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4500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CB236-E5DF-4272-B835-9E657C0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Смысл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470F3-EB82-43F8-A75A-E43D9243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Желание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Категории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Исключения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C3EF4-8354-4F57-BD56-ABCD9874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43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4500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A1E7D-F7FF-42A5-BBF4-28D603C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Источники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879B5-E9FC-4606-87E8-530A92BD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3143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Автосбор 1 204 POI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Факты с URL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Пешеходный граф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FE629-FBEC-4F9C-85AF-A719D47A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0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4500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380F4-DE81-4983-B749-23CC1D0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Расчёт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70BAE-2DEF-4950-8AD5-CBA2075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3143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Путь и остановки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Запас времени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Строгие условия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0FC20-0A26-4395-B6AA-2B81D4A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075A6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75A63"/>
                </a:solidFill>
                <a:latin typeface="Arial"/>
                <a:ea typeface="Arial"/>
                <a:cs typeface="Arial"/>
              </a:rPr>
              <a:t>Основной RAG-путь: найденные POI + Gemini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3ECD9-ABE4-4845-96B0-7309ECF8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В демо резерв понимает запрос, объяснения составляются локально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C27A4-8222-4D04-B8BE-F50B1D8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Резерв: Google Gemma в Cloudflare через 1,5 с · единая проверка ответа</a:t>
            </a:r>
          </a:p>
        </p:txBody>
      </p:sp>
    </p:spTree>
    <p:extLst>
      <p:ext uri="{BB962C8B-B14F-4D97-AF65-F5344CB8AC3E}">
        <p14:creationId xmlns:p14="http://schemas.microsoft.com/office/powerpoint/2010/main" val="1875522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A461F-ECFE-4D23-8734-A4BB536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Что уже проверено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F14B5-FFD1-4B13-9873-0669F09A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825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30/30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2B44A-5B69-42DA-A34E-EA6A0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запросов в финальной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проверке сайта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B3007-C6D1-4A12-80D2-43AA3B9E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0" b="0">
                <a:solidFill>
                  <a:srgbClr val="CA5B37"/>
                </a:solidFill>
                <a:latin typeface="Georgia"/>
                <a:ea typeface="Georgia"/>
                <a:cs typeface="Georgia"/>
              </a:defRPr>
            </a:pPr>
            <a:r>
              <a:rPr sz="8250" b="0">
                <a:solidFill>
                  <a:srgbClr val="CA5B37"/>
                </a:solidFill>
                <a:latin typeface="Georgia"/>
                <a:ea typeface="Georgia"/>
                <a:cs typeface="Georgia"/>
              </a:rPr>
              <a:t>2,5 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68F05-45EC-48A8-9670-940FEB8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медиана ответа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в этой выборке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7BA7B-7F39-43F3-818D-4709173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505 автоматических проверок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7195B-E608-4361-9250-F76C19DA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RU / KK / EN · отрицания · «и / или» · смена желания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A1E41-C0EA-47E4-9B9F-C453BAD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86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3 серии по 10, включая 10 новых формулировок. Все ответы дал резерв. Это не SLA.</a:t>
            </a:r>
          </a:p>
        </p:txBody>
      </p:sp>
    </p:spTree>
    <p:extLst>
      <p:ext uri="{BB962C8B-B14F-4D97-AF65-F5344CB8AC3E}">
        <p14:creationId xmlns:p14="http://schemas.microsoft.com/office/powerpoint/2010/main" val="1913057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44153-961F-4FB4-A15B-B6D9D264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Личный городской паспорт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4047F-F94E-4D2F-B793-F1427941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28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Маленькие открытия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остаются с тобой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34B9F-6479-411D-9DC6-32F71927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714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A5B37"/>
                </a:solidFill>
                <a:latin typeface="Arial"/>
                <a:ea typeface="Arial"/>
                <a:cs typeface="Arial"/>
              </a:rPr>
              <a:t>Места, уровни и история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CA5B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A5B37"/>
                </a:solidFill>
                <a:latin typeface="Arial"/>
                <a:ea typeface="Arial"/>
                <a:cs typeface="Arial"/>
              </a:rPr>
              <a:t>после GPS-прогулки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4275F-EF68-44CA-A975-8EFD8AFA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714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Личные предпочтения хранятся на устройстве.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Их можно отключить или удалить.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AFC74-B6D8-4623-9365-3E61C6176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f0b0c0b6249b3"/>
          <a:stretch xmlns:a="http://schemas.openxmlformats.org/drawingml/2006/main"/>
        </p:blipFill>
        <p:spPr>
          <a:xfrm xmlns:a="http://schemas.openxmlformats.org/drawingml/2006/main">
            <a:off x="8708175" y="1562100"/>
            <a:ext cx="226230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97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188F0-0CB1-4A79-9A30-D79FDAA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Городской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F15C2-948B-4427-AC9C-A114D53A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defPPr>
            <a:lvl1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700" b="0">
                <a:solidFill>
                  <a:srgbClr val="075A63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075A63"/>
                </a:solidFill>
                <a:latin typeface="Georgia"/>
                <a:ea typeface="Georgia"/>
                <a:cs typeface="Georgia"/>
              </a:rPr>
              <a:t>Один кампус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9D44E-2390-462B-B019-D14EE7C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Реальное время прибытия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5C756-341E-43E0-9089-BCCEBCB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Новые посещённые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3B98A-CFDF-45F7-BF7E-2018E75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183D4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D42"/>
                </a:solidFill>
                <a:latin typeface="Arial"/>
                <a:ea typeface="Arial"/>
                <a:cs typeface="Arial"/>
              </a:rPr>
              <a:t>Желание выйти ещё раз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275ED-7DD8-4351-BD97-3ABBD05A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86C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C6D"/>
                </a:solidFill>
                <a:latin typeface="Arial"/>
                <a:ea typeface="Arial"/>
                <a:cs typeface="Arial"/>
              </a:rPr>
              <a:t>Предложение следующего эксперимента. Городской сбор данных пока не включён.</a:t>
            </a:r>
          </a:p>
        </p:txBody>
      </p:sp>
    </p:spTree>
    <p:extLst>
      <p:ext uri="{BB962C8B-B14F-4D97-AF65-F5344CB8AC3E}">
        <p14:creationId xmlns:p14="http://schemas.microsoft.com/office/powerpoint/2010/main" val="253095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5A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2317B-B035-4F9A-8506-4240506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8572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700" b="1">
                <a:solidFill>
                  <a:srgbClr val="F7F3E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3EB"/>
                </a:solidFill>
                <a:latin typeface="Arial"/>
                <a:ea typeface="Arial"/>
                <a:cs typeface="Arial"/>
              </a:rPr>
              <a:t>qadam.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935AC-9CB1-4E29-8170-B7E27411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383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7F3EB"/>
                </a:solidFill>
                <a:latin typeface="Georgia"/>
                <a:ea typeface="Georgia"/>
                <a:cs typeface="Georgia"/>
              </a:rPr>
              <a:t>Успей больше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875" b="0">
                <a:solidFill>
                  <a:srgbClr val="F7F3EB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7F3EB"/>
                </a:solidFill>
                <a:latin typeface="Georgia"/>
                <a:ea typeface="Georgia"/>
                <a:cs typeface="Georgia"/>
              </a:rPr>
              <a:t>по пути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64887-1895-45A9-BCF7-A1BB6655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pPr>
            <a:r>
              <a:rPr sz="2475" u="sng">
                <a:solidFill>
                  <a:srgbClr val="F7F3EB"/>
                </a:solidFill>
                <a:latin typeface="Arial"/>
                <a:ea typeface="Arial"/>
                <a:cs typeface="Arial"/>
                <a:hlinkClick xmlns:r="http://schemas.openxmlformats.org/officeDocument/2006/relationships" r:id="R7e833563de224811"/>
              </a:rPr>
              <a:t>qadam-astana.pages.dev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9401A-098A-458C-BD1B-AA3195F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pPr>
            <a:r>
              <a:rPr sz="2025" u="sng">
                <a:solidFill>
                  <a:srgbClr val="F7F3EB"/>
                </a:solidFill>
                <a:latin typeface="Arial"/>
                <a:ea typeface="Arial"/>
                <a:cs typeface="Arial"/>
                <a:hlinkClick xmlns:r="http://schemas.openxmlformats.org/officeDocument/2006/relationships" r:id="Rc209b1d8ca124c91"/>
              </a:rPr>
              <a:t>GitHub: код и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7F24C-6924-414D-AA84-893661F3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5782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7F3EB"/>
                </a:solidFill>
                <a:latin typeface="Arial"/>
                <a:ea typeface="Arial"/>
                <a:cs typeface="Arial"/>
              </a:defRPr>
            </a:pPr>
            <a:r>
              <a:rPr sz="2025" u="sng">
                <a:solidFill>
                  <a:srgbClr val="F7F3EB"/>
                </a:solidFill>
                <a:latin typeface="Arial"/>
                <a:ea typeface="Arial"/>
                <a:cs typeface="Arial"/>
                <a:hlinkClick xmlns:r="http://schemas.openxmlformats.org/officeDocument/2006/relationships" r:id="R54cc972bd0014729"/>
              </a:rPr>
              <a:t>Видео демонстрации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84B2C-9389-4CA4-9F8E-3E1E79847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0f9d936304d7f"/>
          <a:stretch xmlns:a="http://schemas.openxmlformats.org/drawingml/2006/main"/>
        </p:blipFill>
        <p:spPr>
          <a:xfrm xmlns:a="http://schemas.openxmlformats.org/drawingml/2006/main">
            <a:off x="9172575" y="3990975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9E63-DF71-4AD6-82ED-B9661DC7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9E6"/>
                </a:solidFill>
                <a:latin typeface="Arial"/>
                <a:ea typeface="Arial"/>
                <a:cs typeface="Arial"/>
              </a:rPr>
              <a:t>Rashiduly Bekzat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06262-A6E3-48D5-A26B-58BC9E9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334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DCE9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CE9E6"/>
                </a:solidFill>
                <a:latin typeface="Arial"/>
                <a:ea typeface="Arial"/>
                <a:cs typeface="Arial"/>
              </a:rPr>
              <a:t>Попробуй своё желание</a:t>
            </a:r>
          </a:p>
        </p:txBody>
      </p:sp>
    </p:spTree>
    <p:extLst>
      <p:ext uri="{BB962C8B-B14F-4D97-AF65-F5344CB8AC3E}">
        <p14:creationId xmlns:p14="http://schemas.microsoft.com/office/powerpoint/2010/main" val="903145794"/>
      </p:ext>
    </p:extLst>
  </p:cSld>
</p:sld>
</file>

<file path=ppt/theme/theme1.xml><?xml version="1.0" encoding="utf-8"?>
<a:theme xmlns:a="http://schemas.openxmlformats.org/drawingml/2006/main" name="ChatGPT">
  <a:themeElements>
    <a:clrScheme name="Qadam final v18">
      <a:dk1>
        <a:srgbClr val="183D42"/>
      </a:dk1>
      <a:lt1>
        <a:srgbClr val="F7F3EB"/>
      </a:lt1>
      <a:dk2>
        <a:srgbClr val="075A63"/>
      </a:dk2>
      <a:lt2>
        <a:srgbClr val="DCE9E6"/>
      </a:lt2>
      <a:accent1>
        <a:srgbClr val="075A63"/>
      </a:accent1>
      <a:accent2>
        <a:srgbClr val="CA5B37"/>
      </a:accent2>
      <a:accent3>
        <a:srgbClr val="DCE9E6"/>
      </a:accent3>
      <a:accent4>
        <a:srgbClr val="586C6D"/>
      </a:accent4>
      <a:accent5>
        <a:srgbClr val="183D42"/>
      </a:accent5>
      <a:accent6>
        <a:srgbClr val="F7F3EB"/>
      </a:accent6>
      <a:hlink>
        <a:srgbClr val="F7F3EB"/>
      </a:hlink>
      <a:folHlink>
        <a:srgbClr val="DCE9E6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dam final v18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2026-10-20T18:06:43.0390000Z</dcterms:created>
  <dcterms:modified xsi:type="dcterms:W3CDTF">2026-10-20T18:06:43.0390000Z</dcterms:modified>
</coreProperties>
</file>