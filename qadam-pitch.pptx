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1d15c7f204a89" /><Relationship Type="http://schemas.openxmlformats.org/officeDocument/2006/relationships/extended-properties" Target="/docProps/app.xml" Id="Rc3d7c16d1d044e22" /><Relationship Type="http://schemas.openxmlformats.org/officeDocument/2006/relationships/officeDocument" Target="/ppt/presentation.xml" Id="R596f50831db8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42ba00de74096"/>
  </p:sldMasterIdLst>
  <p:notesMasterIdLst>
    <p:notesMasterId xmlns:r="http://schemas.openxmlformats.org/officeDocument/2006/relationships" r:id="Rf88799009a124c3f"/>
  </p:notesMasterIdLst>
  <p:sldIdLst>
    <p:sldId xmlns:r="http://schemas.openxmlformats.org/officeDocument/2006/relationships" id="256" r:id="R62ab2c3034184168"/>
    <p:sldId xmlns:r="http://schemas.openxmlformats.org/officeDocument/2006/relationships" id="257" r:id="R68b94c607b074b03"/>
    <p:sldId xmlns:r="http://schemas.openxmlformats.org/officeDocument/2006/relationships" id="258" r:id="Rd201a255494e49c0"/>
    <p:sldId xmlns:r="http://schemas.openxmlformats.org/officeDocument/2006/relationships" id="259" r:id="R6a59b5230b02428b"/>
    <p:sldId xmlns:r="http://schemas.openxmlformats.org/officeDocument/2006/relationships" id="260" r:id="R8621569991474d95"/>
    <p:sldId xmlns:r="http://schemas.openxmlformats.org/officeDocument/2006/relationships" id="261" r:id="Rb4803c25a1f4446c"/>
    <p:sldId xmlns:r="http://schemas.openxmlformats.org/officeDocument/2006/relationships" id="262" r:id="R844fb156fdf24267"/>
    <p:sldId xmlns:r="http://schemas.openxmlformats.org/officeDocument/2006/relationships" id="263" r:id="R0bd0cc82e3a648b4"/>
    <p:sldId xmlns:r="http://schemas.openxmlformats.org/officeDocument/2006/relationships" id="264" r:id="Rade612b13dc04b8e"/>
    <p:sldId xmlns:r="http://schemas.openxmlformats.org/officeDocument/2006/relationships" id="265" r:id="R9b8183dbc26e49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a7d975dbb43d0" /><Relationship Type="http://schemas.openxmlformats.org/officeDocument/2006/relationships/slideMaster" Target="/ppt/slideMasters/slideMaster1.xml" Id="R98e42ba00de74096" /><Relationship Type="http://schemas.openxmlformats.org/officeDocument/2006/relationships/notesMaster" Target="/ppt/notesMasters/notesMaster1.xml" Id="Rf88799009a124c3f" /><Relationship Type="http://schemas.openxmlformats.org/officeDocument/2006/relationships/presProps" Target="/ppt/presProps.xml" Id="R75d5d9577d994569" /><Relationship Type="http://schemas.openxmlformats.org/officeDocument/2006/relationships/tableStyles" Target="/ppt/tableStyles.xml" Id="Re46e1591b164485c" /><Relationship Type="http://schemas.openxmlformats.org/officeDocument/2006/relationships/slide" Target="/ppt/slides/slide1.xml" Id="R62ab2c3034184168" /><Relationship Type="http://schemas.openxmlformats.org/officeDocument/2006/relationships/slide" Target="/ppt/slides/slide2.xml" Id="R68b94c607b074b03" /><Relationship Type="http://schemas.openxmlformats.org/officeDocument/2006/relationships/slide" Target="/ppt/slides/slide3.xml" Id="Rd201a255494e49c0" /><Relationship Type="http://schemas.openxmlformats.org/officeDocument/2006/relationships/slide" Target="/ppt/slides/slide4.xml" Id="R6a59b5230b02428b" /><Relationship Type="http://schemas.openxmlformats.org/officeDocument/2006/relationships/slide" Target="/ppt/slides/slide5.xml" Id="R8621569991474d95" /><Relationship Type="http://schemas.openxmlformats.org/officeDocument/2006/relationships/slide" Target="/ppt/slides/slide6.xml" Id="Rb4803c25a1f4446c" /><Relationship Type="http://schemas.openxmlformats.org/officeDocument/2006/relationships/slide" Target="/ppt/slides/slide7.xml" Id="R844fb156fdf24267" /><Relationship Type="http://schemas.openxmlformats.org/officeDocument/2006/relationships/slide" Target="/ppt/slides/slide8.xml" Id="R0bd0cc82e3a648b4" /><Relationship Type="http://schemas.openxmlformats.org/officeDocument/2006/relationships/slide" Target="/ppt/slides/slide9.xml" Id="Rade612b13dc04b8e" /><Relationship Type="http://schemas.openxmlformats.org/officeDocument/2006/relationships/slide" Target="/ppt/slides/slide10.xml" Id="R9b8183dbc26e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3bf05165241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dam">
      <a:dk1>
        <a:srgbClr val="22362B"/>
      </a:dk1>
      <a:lt1>
        <a:srgbClr val="FAF9F5"/>
      </a:lt1>
      <a:dk2>
        <a:srgbClr val="1C543E"/>
      </a:dk2>
      <a:lt2>
        <a:srgbClr val="DCE4D1"/>
      </a:lt2>
      <a:accent1>
        <a:srgbClr val="1C543E"/>
      </a:accent1>
      <a:accent2>
        <a:srgbClr val="6A845D"/>
      </a:accent2>
      <a:accent3>
        <a:srgbClr val="DCE4D1"/>
      </a:accent3>
      <a:accent4>
        <a:srgbClr val="657268"/>
      </a:accent4>
      <a:accent5>
        <a:srgbClr val="22362B"/>
      </a:accent5>
      <a:accent6>
        <a:srgbClr val="FAF9F5"/>
      </a:accent6>
      <a:hlink>
        <a:srgbClr val="FAF9F5"/>
      </a:hlink>
      <a:folHlink>
        <a:srgbClr val="DCE4D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a70b019224a1b" /><Relationship Type="http://schemas.openxmlformats.org/officeDocument/2006/relationships/notesMaster" Target="/ppt/notesMasters/notesMaster1.xml" Id="R031b0782e351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64fd399fc945b2" /><Relationship Type="http://schemas.openxmlformats.org/officeDocument/2006/relationships/notesMaster" Target="/ppt/notesMasters/notesMaster1.xml" Id="R0bf0ffd980e34a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d204efe674412" /><Relationship Type="http://schemas.openxmlformats.org/officeDocument/2006/relationships/notesMaster" Target="/ppt/notesMasters/notesMaster1.xml" Id="Rf81c891e7e9745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576b82b33d48dc" /><Relationship Type="http://schemas.openxmlformats.org/officeDocument/2006/relationships/notesMaster" Target="/ppt/notesMasters/notesMaster1.xml" Id="R36eea70af99c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bd04256c524a56" /><Relationship Type="http://schemas.openxmlformats.org/officeDocument/2006/relationships/notesMaster" Target="/ppt/notesMasters/notesMaster1.xml" Id="R24441f809ef048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5727c199714b15" /><Relationship Type="http://schemas.openxmlformats.org/officeDocument/2006/relationships/notesMaster" Target="/ppt/notesMasters/notesMaster1.xml" Id="R8a8a2ef5511c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453dec77e64275" /><Relationship Type="http://schemas.openxmlformats.org/officeDocument/2006/relationships/notesMaster" Target="/ppt/notesMasters/notesMaster1.xml" Id="R69e24b49f1de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c0e26f35bf4c12" /><Relationship Type="http://schemas.openxmlformats.org/officeDocument/2006/relationships/notesMaster" Target="/ppt/notesMasters/notesMaster1.xml" Id="R5af6e277b58641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25fb8f20e34882" /><Relationship Type="http://schemas.openxmlformats.org/officeDocument/2006/relationships/notesMaster" Target="/ppt/notesMasters/notesMaster1.xml" Id="R0305a4cfb828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0e80f94a68479b" /><Relationship Type="http://schemas.openxmlformats.org/officeDocument/2006/relationships/notesMaster" Target="/ppt/notesMasters/notesMaster1.xml" Id="Ra7b67ff9922f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Добрый день. Я Rashiduly Bekzat, команда Qadam. У человека есть короткий промежуток между делами в Астане. Хочется выйти, выбрать подходящее место и вернуться вовремя. Qadam превращает этот запрос в прогулку и показывает, какие пожелания выполнил, что пришлось исключить и какие свойства места остались неизвестными. Это работающий сайт на телефоне и компьютере.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 06-mobile.png, viewport390×844</a:t>
            </a:r>
          </a:p>
          <a:p xmlns:a="http://schemas.openxmlformats.org/drawingml/2006/main">
            <a:r>
              <a:t>https://qadam-astana-walk.pubg-bekzat.chatgpt.site/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 по себе список мест не отвечает на вопрос, хватит ли времени на дорогу, остановку и возвращение. Ещё важен смысл запроса. Кофе не предлагать отличается от хочу кофе. Тихое место требует данных, которых в каталоге может не быть. Поэтому мы разделили понимание пожеланий, проверку выполнимости и объяснение результата. Пользователь видит каждую из этих границ.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Сценарии команды Qadam</a:t>
            </a:r>
          </a:p>
          <a:p xmlns:a="http://schemas.openxmlformats.org/drawingml/2006/main">
            <a:r>
              <a:t>lib/intent.ts, lib/build-plan.ts, lib/planner.ts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реальный сценарий: хочу в парк, без кафе. Gemini выделяет желаемую категорию парк и исключение кафе. Валидатор принимает закрытый контракт, затем код подбирает реальное место и рассчитывает путь. На этом экране план занимает тридцать одну из сорока пяти минут с возвращением. Мы видим и выбранную категорию, и запрет. Чип кофе, выбранный по умолчанию, не должен перевесить осмысленный текст. Время остаётся приблизительной оценкой, а линии карты не заменяют проверку переходов на улице.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 01-negation.png, planned21Oct2026 12:00UTC+5</a:t>
            </a:r>
          </a:p>
          <a:p xmlns:a="http://schemas.openxmlformats.org/drawingml/2006/main">
            <a:r>
              <a:t>lib/intent.ts, lib/planner.ts, lib/walking-graph.ts</a:t>
            </a:r>
          </a:p>
          <a:p xmlns:a="http://schemas.openxmlformats.org/drawingml/2006/main">
            <a:r>
              <a:t>© OpenStreetMap contributors, https://www.openstreetmap.org/copyright</a:t>
            </a:r>
          </a:p>
          <a:p xmlns:a="http://schemas.openxmlformats.org/drawingml/2006/main">
            <a:r>
              <a:t>docs/RELEASE_QA.md; docs/evaluation/live-audit-regressions.v4.json: separate real release regression calls, not frozen30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запрос: тихое, недорогое кафе с розетками. В нашем источнике нет надёжных полей для этих трёх свойств. Qadam находит категорию кафе и показывает маршрут к Тамсану, тридцать три из сорока пяти минут, но помечает результат как частичный. Каждое непроверенное пожелание видно отдельно. Ясную категорию не надо блокировать из-за отсутствующих атрибутов. При этом тихо без категории потребует уточнения, чтобы произвольное место не выглядело проверенно тихим.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 02-partial.png</a:t>
            </a:r>
          </a:p>
          <a:p xmlns:a="http://schemas.openxmlformats.org/drawingml/2006/main">
            <a:r>
              <a:t>lib/intent.ts finalv4, lib/intent-feedback.ts, lib/build-plan.ts</a:t>
            </a:r>
          </a:p>
          <a:p xmlns:a="http://schemas.openxmlformats.org/drawingml/2006/main">
            <a:r>
              <a:t>docs/evaluation/final-intent-freeze.v4.json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Третий сценарий показывает полезный пустой результат. Выбираем кофе кнопкой, старт у набережной, двадцать минут и включаем фильтр известного расписания. Для этих точных условий подходящего плана нет. Код учитывает остановку, обратную дорогу и запас. Здесь важен включённый фильтр часов: без него другое кафе может поместиться в двадцать минут. Мы не превращаем один пример в общее обещание. Приложение предлагает изменить время или ограничения и не добавляет случайную точку ради заполненного экрана.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 04-empty.png: manualcoffee, Riverfront,21Oct12:00,minutes20,knownHoursOnly=true</a:t>
            </a:r>
          </a:p>
          <a:p xmlns:a="http://schemas.openxmlformats.org/drawingml/2006/main">
            <a:r>
              <a:t>lib/planner.ts, lib/build-plan.ts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разделяет полномочия. Первый вызов Gemini возвращает намерение в восьми категориях, с исключениями и точными цитатами запроса. Он не выдаёт координаты или новые места. После валидации retrieval и планировщик работают по нашей базе и дорожному графу. Второй вызов Gemini выбирает только разрешённые коды объяснения и занятия для уже выбранных ID. Приложение проверяет коды, контекст и порядок, затем пишет текст локальными шаблонами. Свободной генерации фактов здесь нет. Если семантический разбор недоступен, мы показываем это и предлагаем ручной режим. Пустой запрос сразу использует выбранные категории.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lib/intent.ts, lib/intent-types.ts, lib/build-plan.ts</a:t>
            </a:r>
          </a:p>
          <a:p xmlns:a="http://schemas.openxmlformats.org/drawingml/2006/main">
            <a:r>
              <a:t>lib/planner.ts, lib/walking-graph.ts, lib/rag.ts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 собирает наш скрипт через Overpass. В снимке восемьсот девяносто мест в центральной Астане, восемьдесят одна тысяча триста восемьдесят три узла и девяносто семь тысяч четыреста двадцать семь рёбер. Запрос, дата, исходные теги и обработка дублей сохраняются в provenance. В карточке Coffee Original видны сведения источника и ссылка на OSM. Только сто шестнадцать мест имеют расписание. Неизвестные indoor и wheelchair остаются неизвестными. Это общественная карта с ограниченной полнотой, поэтому часы, входы и состояние переходов требуют проверки на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 05-source.png</a:t>
            </a:r>
          </a:p>
          <a:p xmlns:a="http://schemas.openxmlformats.org/drawingml/2006/main">
            <a:r>
              <a:t>data/poi.json, data/provenance.json, data/walk-graph.json</a:t>
            </a:r>
          </a:p>
          <a:p xmlns:a="http://schemas.openxmlformats.org/drawingml/2006/main">
            <a:r>
              <a:t>scripts/collect-pois.mjs</a:t>
            </a:r>
          </a:p>
          <a:p xmlns:a="http://schemas.openxmlformats.org/drawingml/2006/main">
            <a:r>
              <a:t>© OpenStreetMap contributors,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проверяем несколько разных вещей. Проходят сто шестьдесят семь автоматических тестов. Отдельный прогон подаёт планировщику готовые эталонные контракты: в тридцати из тридцати случаев соблюдены проверяемые ограничения, запрещённых категорий нет. Это проверка кода после разбора, а не качество AI. В одном прогоне вручную выбранных тридцати запросов все ожидаемые поля совпали в двадцати шести случаях, прежде было семь. Здесь двадцать семь реальных вызовов API и три пустых запроса в ручном режиме. Два HTTP429 сохранили как отказы. Девять входов участвовали в разработке, двадцать один впервые отправили этому парсеру: двадцать совпали, включая три ручных. Среди восемнадцати новых запросов API совпали семнадцать. Это небольшой выбранный набор, не общая точность. Набор известен команде и не является внешним испытанием. Два других расхождения содержат лишнюю пометку неподдержанного пожелания и объединённую цитату. Мы их сохранили.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docs/RELEASE_QA.md:167 automated tests,0fail,tsc pass</a:t>
            </a:r>
          </a:p>
          <a:p xmlns:a="http://schemas.openxmlformats.org/drawingml/2006/main">
            <a:r>
              <a:t>docs/evaluation/replay-contract.v1.json:oracle injection,cloudCalls0,invariantPassed30,forbiddenCategoryViolations0</a:t>
            </a:r>
          </a:p>
          <a:p xmlns:a="http://schemas.openxmlformats.org/drawingml/2006/main">
            <a:r>
              <a:t>docs/evaluation/baseline-summary.v1.json:strictIntentMatches7/30,legacy effective facets</a:t>
            </a:r>
          </a:p>
          <a:p xmlns:a="http://schemas.openxmlformats.org/drawingml/2006/main">
            <a:r>
              <a:t>docs/evaluation/final-intent-thirty.v4.json:26/30,27provider+3manual,2HTTP429</a:t>
            </a:r>
          </a:p>
          <a:p xmlns:a="http://schemas.openxmlformats.org/drawingml/2006/main">
            <a:r>
              <a:t>docs/evaluation/final-intent-freeze.v4.json; final-analysis.v4.txt</a:t>
            </a:r>
          </a:p>
          <a:p xmlns:a="http://schemas.openxmlformats.org/drawingml/2006/main">
            <a:r>
              <a:t>docs/evaluation/live-audit-regressions.v4.json:4 separate release API regressions passed; distinct from frozen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Интерфейс работает на русском, казахском и английском и адаптирован к телефону. Следующий шаг — пилот для кампуса или туристического центра. Это гипотеза, партнёрство и спрос мы не заявляем. Организация могла бы поддерживать местный каталог и его актуальность. Сначала проверим пути, входы и часы, затем полезность выбора и возвращение во времени. Код не сохраняет историю локаций. Точный старт обрабатывает сервер для расчёта, Gemini получает запрос и выбранные данные без отдельного поля координат старта. Хостинг и OSM также обрабатывают сетевые запросы. Риски — неполные данные, оценка скорости, API429 и стоимость. Эти границы надо учитывать в пилоте.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Собственный production screenshot03-kk.png:manual CoffeeOriginal39/45,21Oct2026</a:t>
            </a:r>
          </a:p>
          <a:p xmlns:a="http://schemas.openxmlformats.org/drawingml/2006/main">
            <a:r>
              <a:t>Гипотеза команды Qadam,docs/DECISIONS.md</a:t>
            </a:r>
          </a:p>
          <a:p xmlns:a="http://schemas.openxmlformats.org/drawingml/2006/main">
            <a:r>
              <a:t>lib/intent.ts, lib/rag.ts, app/api/plan/route.ts, components/city-map.tsx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Qadam можно открыть и проверить на своём запросе. Здесь приложение, исходный код, воспроизводимый сбор данных и запись демонстрации. Мы сделали короткую прогулку с понятными ограничениями, видимыми неизвестными и возвращением в расчёте. Готов показать другой сценарий и ответить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https://qadam-astana-walk.pubg-bekzat.chatgpt.site/</a:t>
            </a:r>
          </a:p>
          <a:p xmlns:a="http://schemas.openxmlformats.org/drawingml/2006/main">
            <a:r>
              <a:t>https://github.com/gojosatorukz/qadam-astana</a:t>
            </a:r>
          </a:p>
          <a:p xmlns:a="http://schemas.openxmlformats.org/drawingml/2006/main">
            <a:r>
              <a:t>https://youtu.be/SeL_Ts7Z1YU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7699750324e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7ec2e1a694d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cd30005c0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8c3689a2540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966d6398e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f3d142a9945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359E5D-7920-463F-A893-F15391D66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360FDD-D2B2-4BA1-9535-7A4E82FE33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1F1CF1-67F5-4923-95FE-48F48C329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AB69BC-74C0-47B3-ACEE-CCCB6C61C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EE67C6-8C87-4241-8CAD-74CA269D9A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E0442C-C242-458F-AF86-C189D7666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52F686-2FFC-4BC1-945F-54458C1EDC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E39B4C-32E7-4765-A707-7214F6EFFB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130F14-5400-4F65-9898-E6D8CAB07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D62741-780E-4B86-B575-80D01B140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8d97449a74ec1" /><Relationship Type="http://schemas.openxmlformats.org/officeDocument/2006/relationships/slideLayout" Target="/ppt/slideLayouts/slideLayout1.xml" Id="R54e2358fdd3b49dc" /><Relationship Type="http://schemas.openxmlformats.org/officeDocument/2006/relationships/slideLayout" Target="/ppt/slideLayouts/slideLayout2.xml" Id="R4e481378f08b4557" /><Relationship Type="http://schemas.openxmlformats.org/officeDocument/2006/relationships/slideLayout" Target="/ppt/slideLayouts/slideLayout3.xml" Id="Rc363e401d8894783" /><Relationship Type="http://schemas.openxmlformats.org/officeDocument/2006/relationships/slideLayout" Target="/ppt/slideLayouts/slideLayout4.xml" Id="R9ec9ae5a52f64d92" /><Relationship Type="http://schemas.openxmlformats.org/officeDocument/2006/relationships/slideLayout" Target="/ppt/slideLayouts/slideLayout5.xml" Id="Rebb2618aa9a04a20" /><Relationship Type="http://schemas.openxmlformats.org/officeDocument/2006/relationships/slideLayout" Target="/ppt/slideLayouts/slideLayout6.xml" Id="R7425ea3777bc40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2358fdd3b49dc"/>
    <p:sldLayoutId xmlns:r="http://schemas.openxmlformats.org/officeDocument/2006/relationships" id="2147483650" r:id="R4e481378f08b4557"/>
    <p:sldLayoutId xmlns:r="http://schemas.openxmlformats.org/officeDocument/2006/relationships" id="2147483651" r:id="Rc363e401d8894783"/>
    <p:sldLayoutId xmlns:r="http://schemas.openxmlformats.org/officeDocument/2006/relationships" id="2147483652" r:id="R9ec9ae5a52f64d92"/>
    <p:sldLayoutId xmlns:r="http://schemas.openxmlformats.org/officeDocument/2006/relationships" id="2147483653" r:id="Rebb2618aa9a04a20"/>
    <p:sldLayoutId xmlns:r="http://schemas.openxmlformats.org/officeDocument/2006/relationships" id="2147483654" r:id="R7425ea3777bc40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dam">
      <a:dk1>
        <a:srgbClr val="22362B"/>
      </a:dk1>
      <a:lt1>
        <a:srgbClr val="FAF9F5"/>
      </a:lt1>
      <a:dk2>
        <a:srgbClr val="1C543E"/>
      </a:dk2>
      <a:lt2>
        <a:srgbClr val="DCE4D1"/>
      </a:lt2>
      <a:accent1>
        <a:srgbClr val="1C543E"/>
      </a:accent1>
      <a:accent2>
        <a:srgbClr val="6A845D"/>
      </a:accent2>
      <a:accent3>
        <a:srgbClr val="DCE4D1"/>
      </a:accent3>
      <a:accent4>
        <a:srgbClr val="657268"/>
      </a:accent4>
      <a:accent5>
        <a:srgbClr val="22362B"/>
      </a:accent5>
      <a:accent6>
        <a:srgbClr val="FAF9F5"/>
      </a:accent6>
      <a:hlink>
        <a:srgbClr val="FAF9F5"/>
      </a:hlink>
      <a:folHlink>
        <a:srgbClr val="DCE4D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ef2605b5d48ef" /><Relationship Type="http://schemas.openxmlformats.org/officeDocument/2006/relationships/image" Target="/ppt/media/image.jpeg" Id="Re70e22df37764a84" /><Relationship Type="http://schemas.openxmlformats.org/officeDocument/2006/relationships/notesSlide" Target="/ppt/notesSlides/notesSlide1.xml" Id="R3b68ff2c66fb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0d8c152e6402f" /><Relationship Type="http://schemas.openxmlformats.org/officeDocument/2006/relationships/notesSlide" Target="/ppt/notesSlides/notesSlide2.xml" Id="R57df875279fd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8401fa80648a1" /><Relationship Type="http://schemas.openxmlformats.org/officeDocument/2006/relationships/image" Target="/ppt/media/image2.jpeg" Id="R28c41579f68a4aad" /><Relationship Type="http://schemas.openxmlformats.org/officeDocument/2006/relationships/notesSlide" Target="/ppt/notesSlides/notesSlide3.xml" Id="Re8435a44e578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1e81274d04a59" /><Relationship Type="http://schemas.openxmlformats.org/officeDocument/2006/relationships/image" Target="/ppt/media/image3.jpeg" Id="R42ef267ff7a64189" /><Relationship Type="http://schemas.openxmlformats.org/officeDocument/2006/relationships/notesSlide" Target="/ppt/notesSlides/notesSlide4.xml" Id="Rfe85eddc384e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fbe65a9dc47b9" /><Relationship Type="http://schemas.openxmlformats.org/officeDocument/2006/relationships/image" Target="/ppt/media/image4.jpeg" Id="R32856ff647394aad" /><Relationship Type="http://schemas.openxmlformats.org/officeDocument/2006/relationships/notesSlide" Target="/ppt/notesSlides/notesSlide5.xml" Id="R2d6fb994506d4b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b3af744bc4a95" /><Relationship Type="http://schemas.openxmlformats.org/officeDocument/2006/relationships/notesSlide" Target="/ppt/notesSlides/notesSlide6.xml" Id="Re2b8dbd162da4f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0cc43222a4144" /><Relationship Type="http://schemas.openxmlformats.org/officeDocument/2006/relationships/image" Target="/ppt/media/image5.jpeg" Id="R31be64af1c7641e0" /><Relationship Type="http://schemas.openxmlformats.org/officeDocument/2006/relationships/notesSlide" Target="/ppt/notesSlides/notesSlide7.xml" Id="R35b4e6d1abb74f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d0d1ec2db44dd" /><Relationship Type="http://schemas.openxmlformats.org/officeDocument/2006/relationships/chart" Target="/ppt/slides/charts/chart1.xml" Id="Reb2d6a51090648dc" /><Relationship Type="http://schemas.openxmlformats.org/officeDocument/2006/relationships/notesSlide" Target="/ppt/notesSlides/notesSlide8.xml" Id="R2145cb2b8be647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85f6334c34f35" /><Relationship Type="http://schemas.openxmlformats.org/officeDocument/2006/relationships/image" Target="/ppt/media/image6.jpeg" Id="R0daf716fab504417" /><Relationship Type="http://schemas.openxmlformats.org/officeDocument/2006/relationships/notesSlide" Target="/ppt/notesSlides/notesSlide9.xml" Id="R0a499d0c289e43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f04cb08564054" /><Relationship Type="http://schemas.openxmlformats.org/officeDocument/2006/relationships/hyperlink" Target="https://qadam-astana-walk.pubg-bekzat.chatgpt.site/" TargetMode="External" Id="Re13eb98a69b547d3" /><Relationship Type="http://schemas.openxmlformats.org/officeDocument/2006/relationships/hyperlink" Target="https://github.com/gojosatorukz/qadam-astana" TargetMode="External" Id="Rd80f9177a74b478d" /><Relationship Type="http://schemas.openxmlformats.org/officeDocument/2006/relationships/hyperlink" Target="https://youtu.be/SeL_Ts7Z1YU" TargetMode="External" Id="R749d064648f94a67" /><Relationship Type="http://schemas.openxmlformats.org/officeDocument/2006/relationships/image" Target="/ppt/media/image.png" Id="Rca1de72268a34a93" /><Relationship Type="http://schemas.openxmlformats.org/officeDocument/2006/relationships/notesSlide" Target="/ppt/notesSlides/notesSlide10.xml" Id="R51fad70ccb284c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Совпадения из 30</c:v>
          </c:tx>
          <c:spPr>
            <a:solidFill xmlns:a="http://schemas.openxmlformats.org/drawingml/2006/main">
              <a:srgbClr val="1C543E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Intent v4</c:v>
                </c:pt>
                <c:pt idx="1">
                  <c:v>Прежний разбор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26</c:v>
                </c:pt>
                <c:pt idx="1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C543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8946E-1175-461C-89CB-96C06BC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685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4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qadam.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C0213-8B47-46A0-80C0-D282B47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90800"/>
            <a:ext cx="6572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4275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Прогулка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275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4275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с возвращением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E314C-BD43-4815-85D4-0CF8565E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ИИ-помощник по Астане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3E33E-53FF-4E73-AB6F-7C98084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633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543E"/>
                </a:solidFill>
                <a:latin typeface="Arial"/>
                <a:ea typeface="Arial"/>
                <a:cs typeface="Arial"/>
              </a:rPr>
              <a:t>Команда Qadam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543E"/>
                </a:solidFill>
                <a:latin typeface="Arial"/>
                <a:ea typeface="Arial"/>
                <a:cs typeface="Arial"/>
              </a:rPr>
              <a:t>Rashiduly Bekzat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709A-5D28-46C6-B745-8EFA2391F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e22df37764a84"/>
          <a:stretch xmlns:a="http://schemas.openxmlformats.org/drawingml/2006/main"/>
        </p:blipFill>
        <p:spPr>
          <a:xfrm xmlns:a="http://schemas.openxmlformats.org/drawingml/2006/main">
            <a:off x="8544929" y="752475"/>
            <a:ext cx="2636416" cy="5705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192E5-5708-4376-AEE3-964F0B8E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45 минут между делами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C8FD4-3A5F-4E58-869E-EF36C2D1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333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165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13599-AFC6-4433-9AFC-5F394818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минут свободного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BD563-7F8D-4C48-A3B3-C17790C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619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Куда сходить,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чтобы успеть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вернуться?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1A1A-9CA9-4127-AE86-16DD6AC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86300"/>
            <a:ext cx="5381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Желания и запреты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День и расписание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Дорога туда и обратно</a:t>
            </a:r>
          </a:p>
        </p:txBody>
      </p:sp>
    </p:spTree>
    <p:extLst>
      <p:ext uri="{BB962C8B-B14F-4D97-AF65-F5344CB8AC3E}">
        <p14:creationId xmlns:p14="http://schemas.microsoft.com/office/powerpoint/2010/main" val="683665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74DC-CA35-47C2-8526-AB14D16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В парк, без кафе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CBC52-21A0-4AFA-BF41-8185344CA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41579f68a4aad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8839200" cy="4972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EB52-18F0-4B04-BFB8-290B7A9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1905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75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B40AA-3130-4961-83F0-6ED0D91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289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из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F8DE7-4159-42B9-92BF-CF3D657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38550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362B"/>
                </a:solidFill>
                <a:latin typeface="Arial"/>
                <a:ea typeface="Arial"/>
                <a:cs typeface="Arial"/>
              </a:rPr>
              <a:t>В плане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362B"/>
                </a:solidFill>
                <a:latin typeface="Arial"/>
                <a:ea typeface="Arial"/>
                <a:cs typeface="Arial"/>
              </a:rPr>
              <a:t>парк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E9A8C-9C7B-4467-B896-B856D26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7680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A845D"/>
                </a:solidFill>
                <a:latin typeface="Arial"/>
                <a:ea typeface="Arial"/>
                <a:cs typeface="Arial"/>
              </a:rPr>
              <a:t>Кафе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A845D"/>
                </a:solidFill>
                <a:latin typeface="Arial"/>
                <a:ea typeface="Arial"/>
                <a:cs typeface="Arial"/>
              </a:rPr>
              <a:t>исключены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A6EB5-54FD-4000-B3B4-6C00590E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1402565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38C4D-CB54-4B92-9681-C6EDECE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Кафе и непроверенные пожелания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E524A-6560-474F-B0F5-CD5461B1D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f267ff7a64189"/>
          <a:srcRect xmlns:a="http://schemas.openxmlformats.org/drawingml/2006/main" l="0" t="13889" r="66563" b="14444"/>
          <a:stretch xmlns:a="http://schemas.openxmlformats.org/drawingml/2006/main"/>
        </p:blipFill>
        <p:spPr>
          <a:xfrm xmlns:a="http://schemas.openxmlformats.org/drawingml/2006/main">
            <a:off x="609600" y="1571625"/>
            <a:ext cx="4286250" cy="5162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31241-F5FD-48E5-A5EA-FAAA5A1C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716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Выполнено частично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13C8D-9EEB-41C0-8367-437B2180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003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2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72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8D29-4DA6-4D49-AA47-66B3647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86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из 45 минут, с возвращением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38729-750D-4AA5-8BCD-8A61CCF9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Кафе подходит по категории.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Тишина, цена и розетки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остаются неизвестными.</a:t>
            </a:r>
          </a:p>
        </p:txBody>
      </p:sp>
    </p:spTree>
    <p:extLst>
      <p:ext uri="{BB962C8B-B14F-4D97-AF65-F5344CB8AC3E}">
        <p14:creationId xmlns:p14="http://schemas.microsoft.com/office/powerpoint/2010/main" val="1465687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5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71D05-2840-413A-8B42-17598EF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AF9F5"/>
                </a:solidFill>
                <a:latin typeface="Georgia"/>
                <a:ea typeface="Georgia"/>
                <a:cs typeface="Georgia"/>
              </a:rPr>
              <a:t>20 минут с известным расписанием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5AAC-5037-4003-A854-38A193BE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419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pPr>
            <a:r>
              <a:rPr sz="15750" b="0">
                <a:solidFill>
                  <a:srgbClr val="FAF9F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816B6-B9F9-4C72-87F8-7CEB7EF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4D1"/>
                </a:solidFill>
                <a:latin typeface="Arial"/>
                <a:ea typeface="Arial"/>
                <a:cs typeface="Arial"/>
              </a:rPr>
              <a:t>Кофе на набережной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4D1"/>
                </a:solidFill>
                <a:latin typeface="Arial"/>
                <a:ea typeface="Arial"/>
                <a:cs typeface="Arial"/>
              </a:rPr>
              <a:t>Фильтр известного расписания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17800-B67E-4E67-B2A3-B647A343C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56ff647394aad"/>
          <a:srcRect xmlns:a="http://schemas.openxmlformats.org/drawingml/2006/main" l="1250" t="29861" r="68125" b="23056"/>
          <a:stretch xmlns:a="http://schemas.openxmlformats.org/drawingml/2006/main"/>
        </p:blipFill>
        <p:spPr>
          <a:xfrm xmlns:a="http://schemas.openxmlformats.org/drawingml/2006/main">
            <a:off x="5953125" y="1743075"/>
            <a:ext cx="561975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27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D39F2-55F2-49CD-9382-34CDE65749A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715500" y="33194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845D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B6604-C8DC-4B55-97FC-D61C3EFDF35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48600" y="33194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845D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B8128-95A6-457D-93B9-A54F9E6D215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81700" y="33194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845D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AC7F4-C72D-4A29-8D18-29D11B1B30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14800" y="33194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845D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F0028-7106-434E-8886-BAE60980712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33194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845D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7EA9C-CD72-4099-8FF7-48B2F8C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Понимание, проверка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66E54-68D6-41B5-99A2-15D1CEE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Намерение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7937-326E-4590-978B-0BEEE60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категории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и исключения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11FD-4C9E-4BED-9547-53E2F589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Контракт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10159-32EB-4ECA-A1F0-E03160E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8 категорий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цитаты запроса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все / любой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7E95-EB0B-446A-ACB0-F7388F3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1B8F1-B4BF-43FD-8CFC-A474625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Собственная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база мест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и теги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A5C4F-E379-400A-BF79-439ACDE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57765-3A99-44DE-9081-3D92F5BF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Граф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время, возврат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и фильтры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07AA-998F-4B36-A363-7320C44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75079-63F9-4DE5-8427-796D5AB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коды фраз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и выбранные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677E2-414B-4B67-AE1F-5A471AF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621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19F64-6C74-47E1-AF46-887F2A39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28900"/>
            <a:ext cx="1638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Текст локально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результат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AF9F5"/>
                </a:solidFill>
                <a:latin typeface="Arial"/>
                <a:ea typeface="Arial"/>
                <a:cs typeface="Arial"/>
              </a:rPr>
              <a:t>и пропуски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991DD-CF57-4BD0-9504-E78C202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Время и путь рассчитывает код.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9FF65-900E-4929-B4BA-2EEBD93B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90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Пустой запрос: выбор категорий. Сбой разбора: явный ручной режим.</a:t>
            </a:r>
          </a:p>
        </p:txBody>
      </p:sp>
    </p:spTree>
    <p:extLst>
      <p:ext uri="{BB962C8B-B14F-4D97-AF65-F5344CB8AC3E}">
        <p14:creationId xmlns:p14="http://schemas.microsoft.com/office/powerpoint/2010/main" val="1880484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8F4CE-9D2D-42EC-91D0-B68055B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Источники и автоматический сбор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8569F-4E3B-4F86-AC08-318743761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e64af1c7641e0"/>
          <a:srcRect xmlns:a="http://schemas.openxmlformats.org/drawingml/2006/main" l="30078" t="16944" r="30078" b="16944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4857750" cy="453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C5997-2436-4F44-AD99-4C7D465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6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890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4B50A-E681-401D-8E4B-BF9D488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003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мест из OpenStreetMap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56440-39B9-4305-A46C-F5EFBFE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29025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A845D"/>
                </a:solidFill>
                <a:latin typeface="Arial"/>
                <a:ea typeface="Arial"/>
                <a:cs typeface="Arial"/>
              </a:rPr>
              <a:t>81 383 узла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6A845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A845D"/>
                </a:solidFill>
                <a:latin typeface="Arial"/>
                <a:ea typeface="Arial"/>
                <a:cs typeface="Arial"/>
              </a:rPr>
              <a:t>97 427 рёбер графа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55247-3E68-4152-8CF1-00B5F9A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33975"/>
            <a:ext cx="5238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Автосбор через Overpass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116 мест с расписанием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2D3F6-C4D6-4740-AB30-DF41CED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Снимок центральной Астаны от 19.10.2026. Полнота данных ограничена.</a:t>
            </a:r>
          </a:p>
        </p:txBody>
      </p:sp>
    </p:spTree>
    <p:extLst>
      <p:ext uri="{BB962C8B-B14F-4D97-AF65-F5344CB8AC3E}">
        <p14:creationId xmlns:p14="http://schemas.microsoft.com/office/powerpoint/2010/main" val="1349039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4E36C-9661-48BE-BAE4-8BBCAAA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Проверки и пределы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90FB9-C48B-4B2A-BBD1-FC5EEB8C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68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4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84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167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9BE10-53DF-4AC5-9F58-96213711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автоматических проверок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без ошибок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F293-5234-4F0A-AB7D-B72C9B1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7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30/30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DB47D-18B8-4366-AA9D-1AE1ADEB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95575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размеченных условий: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ограничения сохранены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2236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62B"/>
                </a:solidFill>
                <a:latin typeface="Arial"/>
                <a:ea typeface="Arial"/>
                <a:cs typeface="Arial"/>
              </a:rPr>
              <a:t>Модель здесь не вызывается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6A15-B750-4122-B36C-8526ABA5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0 запрещённых категорий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A936-8506-4DF6-B3BC-FBD631C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Строгое совпадение намерения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2566E20-BFE7-4F19-AA4B-E8FED9980F86}"/>
              </a:ext>
            </a:extLst>
          </p:cNvPr>
          <p:cNvGraphicFramePr/>
          <p:nvPr/>
        </p:nvGraphicFramePr>
        <p:xfrm>
          <a:off xmlns:a="http://schemas.openxmlformats.org/drawingml/2006/main" x="533400" y="4543425"/>
          <a:ext xmlns:a="http://schemas.openxmlformats.org/drawingml/2006/main" cx="6496050" cy="1485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2d6a51090648d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041CF-DD4D-4DEF-BF34-0950E1A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4048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27 запросов к Gemini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3 запроса без модели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2 отказа HTTP 429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остались в знаменателе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3FAEE-B873-4273-B4D0-5F6846BF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Вручную выбранные 30 кейсов. Один прогон. Результат не описывает все запросы.</a:t>
            </a:r>
          </a:p>
        </p:txBody>
      </p:sp>
    </p:spTree>
    <p:extLst>
      <p:ext uri="{BB962C8B-B14F-4D97-AF65-F5344CB8AC3E}">
        <p14:creationId xmlns:p14="http://schemas.microsoft.com/office/powerpoint/2010/main" val="225437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65667-8C9E-4061-BE8E-B385E88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1C543E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C543E"/>
                </a:solidFill>
                <a:latin typeface="Georgia"/>
                <a:ea typeface="Georgia"/>
                <a:cs typeface="Georgia"/>
              </a:rPr>
              <a:t>Пилот для кампуса или турцентра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D7670-0C91-4E10-9FA1-1F2C2F4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Гипотеза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A306E-49F0-4751-9280-D1E4DB37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336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Короткие прогулки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2236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2362B"/>
                </a:solidFill>
                <a:latin typeface="Georgia"/>
                <a:ea typeface="Georgia"/>
                <a:cs typeface="Georgia"/>
              </a:rPr>
              <a:t>между делами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F47F9-244B-47E5-B75A-63A9CF0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338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40B2D-6272-4F36-B42C-A6553F4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91050"/>
            <a:ext cx="6238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Проверить пути, входы и часы.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Измерить возврат вовремя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и полезность выбора.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EAE36-64E9-4453-A733-CD13E0E9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05525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Код не хранит историю локаций.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57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68"/>
                </a:solidFill>
                <a:latin typeface="Arial"/>
                <a:ea typeface="Arial"/>
                <a:cs typeface="Arial"/>
              </a:rPr>
              <a:t>Внешние сервисы обрабатывают запросы.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8073-66A0-491C-A7D8-FDC7107E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3620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C5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543E"/>
                </a:solidFill>
                <a:latin typeface="Arial"/>
                <a:ea typeface="Arial"/>
                <a:cs typeface="Arial"/>
              </a:rPr>
              <a:t>RU / KK / EN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9A905-5B21-4AAA-B10B-5B72D0D99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f716fab504417"/>
          <a:srcRect xmlns:a="http://schemas.openxmlformats.org/drawingml/2006/main" l="0" t="11111" r="66406" b="0"/>
          <a:stretch xmlns:a="http://schemas.openxmlformats.org/drawingml/2006/main"/>
        </p:blipFill>
        <p:spPr>
          <a:xfrm xmlns:a="http://schemas.openxmlformats.org/drawingml/2006/main">
            <a:off x="7677150" y="1876425"/>
            <a:ext cx="3171825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54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5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92F1B-5822-4326-B33D-0FCD006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FAF9F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AF9F5"/>
                </a:solidFill>
                <a:latin typeface="Georgia"/>
                <a:ea typeface="Georgia"/>
                <a:cs typeface="Georgia"/>
              </a:rPr>
              <a:t>Qadam: демо, код и видео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DB8E-C6E2-4BE9-BD9D-C3909C3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l"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0" b="1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qadam.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13D2B-3487-4067-81BB-D23A9DB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E4D1"/>
                </a:solidFill>
                <a:latin typeface="Arial"/>
                <a:ea typeface="Arial"/>
                <a:cs typeface="Arial"/>
              </a:rPr>
              <a:t>Демо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88996-C947-4132-B233-9535B384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681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FAF9F5"/>
                </a:solidFill>
                <a:latin typeface="Arial"/>
                <a:ea typeface="Arial"/>
                <a:cs typeface="Arial"/>
                <a:hlinkClick xmlns:r="http://schemas.openxmlformats.org/officeDocument/2006/relationships" r:id="Re13eb98a69b547d3"/>
              </a:rPr>
              <a:t>qadam-astana-walk.pubg-bekzat.chatgpt.site/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0510F-B779-4773-A228-03FC832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E4D1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AF765-103B-41E9-B179-E07F6B9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95775"/>
            <a:ext cx="681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FAF9F5"/>
                </a:solidFill>
                <a:latin typeface="Arial"/>
                <a:ea typeface="Arial"/>
                <a:cs typeface="Arial"/>
                <a:hlinkClick xmlns:r="http://schemas.openxmlformats.org/officeDocument/2006/relationships" r:id="Rd80f9177a74b478d"/>
              </a:rPr>
              <a:t>github.com/gojosatorukz/qadam-astana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14C1A-5AE8-4B8B-AFDC-6F3F21E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CE4D1"/>
                </a:solidFill>
                <a:latin typeface="Arial"/>
                <a:ea typeface="Arial"/>
                <a:cs typeface="Arial"/>
              </a:rPr>
              <a:t>Видео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E94D-348B-4C2E-949A-8B1AFAA1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681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AF9F5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FAF9F5"/>
                </a:solidFill>
                <a:latin typeface="Arial"/>
                <a:ea typeface="Arial"/>
                <a:cs typeface="Arial"/>
                <a:hlinkClick xmlns:r="http://schemas.openxmlformats.org/officeDocument/2006/relationships" r:id="R749d064648f94a67"/>
              </a:rPr>
              <a:t>youtu.be/SeL_Ts7Z1YU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29EB3-37A4-4F42-A057-679B72308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de72268a34a93"/>
          <a:stretch xmlns:a="http://schemas.openxmlformats.org/drawingml/2006/main"/>
        </p:blipFill>
        <p:spPr>
          <a:xfrm xmlns:a="http://schemas.openxmlformats.org/drawingml/2006/main">
            <a:off x="9239250" y="3333750"/>
            <a:ext cx="2343150" cy="2343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B7E4-B628-4AA8-B253-F8119DB7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1025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4D1"/>
                </a:solidFill>
                <a:latin typeface="Arial"/>
                <a:ea typeface="Arial"/>
                <a:cs typeface="Arial"/>
              </a:rPr>
              <a:t>Открыть и проверить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EC1EC-8331-4113-9F47-6F6F4533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00775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CE4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4D1"/>
                </a:solidFill>
                <a:latin typeface="Arial"/>
                <a:ea typeface="Arial"/>
                <a:cs typeface="Arial"/>
              </a:rPr>
              <a:t>Команда Qadam, Rashiduly Bekzat</a:t>
            </a:r>
          </a:p>
        </p:txBody>
      </p:sp>
    </p:spTree>
    <p:extLst>
      <p:ext uri="{BB962C8B-B14F-4D97-AF65-F5344CB8AC3E}">
        <p14:creationId xmlns:p14="http://schemas.microsoft.com/office/powerpoint/2010/main" val="696141699"/>
      </p:ext>
    </p:extLst>
  </p:cSld>
</p:sld>
</file>

<file path=ppt/theme/theme1.xml><?xml version="1.0" encoding="utf-8"?>
<a:theme xmlns:a="http://schemas.openxmlformats.org/drawingml/2006/main" name="ChatGPT">
  <a:themeElements>
    <a:clrScheme name="Qadam">
      <a:dk1>
        <a:srgbClr val="22362B"/>
      </a:dk1>
      <a:lt1>
        <a:srgbClr val="FAF9F5"/>
      </a:lt1>
      <a:dk2>
        <a:srgbClr val="1C543E"/>
      </a:dk2>
      <a:lt2>
        <a:srgbClr val="DCE4D1"/>
      </a:lt2>
      <a:accent1>
        <a:srgbClr val="1C543E"/>
      </a:accent1>
      <a:accent2>
        <a:srgbClr val="6A845D"/>
      </a:accent2>
      <a:accent3>
        <a:srgbClr val="DCE4D1"/>
      </a:accent3>
      <a:accent4>
        <a:srgbClr val="657268"/>
      </a:accent4>
      <a:accent5>
        <a:srgbClr val="22362B"/>
      </a:accent5>
      <a:accent6>
        <a:srgbClr val="FAF9F5"/>
      </a:accent6>
      <a:hlink>
        <a:srgbClr val="FAF9F5"/>
      </a:hlink>
      <a:folHlink>
        <a:srgbClr val="DCE4D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2026-10-19T21:01:28.7330000Z</dcterms:created>
  <dcterms:modified xsi:type="dcterms:W3CDTF">2026-10-19T21:01:28.7330000Z</dcterms:modified>
</coreProperties>
</file>